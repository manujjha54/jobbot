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image" Target="../media/image15.png"/><Relationship Id="rId11" Type="http://schemas.openxmlformats.org/officeDocument/2006/relationships/image" Target="../media/image1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2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3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3481" y="1827460"/>
            <a:ext cx="2205037" cy="30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5381" y="2970460"/>
            <a:ext cx="9901237" cy="6351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2"/>
              </a:lnSpc>
            </a:pPr>
            <a:r>
              <a:rPr b="0" sz="4350" i="0" u="none">
                <a:solidFill>
                  <a:srgbClr val="0F172A"/>
                </a:solidFill>
                <a:latin typeface="Plus Jakarta Sans ExtraBold"/>
              </a:rPr>
              <a:t>Next-Gen </a:t>
            </a:r>
            <a:r>
              <a:rPr b="0" sz="4350" i="0" u="none">
                <a:solidFill>
                  <a:srgbClr val="0F172A"/>
                </a:solidFill>
                <a:latin typeface="Plus Jakarta Sans ExtraBold"/>
              </a:rPr>
              <a:t>Job Search &amp; ATS</a:t>
            </a:r>
            <a:r>
              <a:rPr b="0" sz="4350" i="0" u="none">
                <a:solidFill>
                  <a:srgbClr val="0F172A"/>
                </a:solidFill>
                <a:latin typeface="Plus Jakarta Sans ExtraBold"/>
              </a:rPr>
              <a:t>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0750" y="3758058"/>
            <a:ext cx="7810500" cy="586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310"/>
              </a:lnSpc>
            </a:pPr>
            <a:r>
              <a:rPr b="0" sz="1650" i="0" u="none">
                <a:solidFill>
                  <a:srgbClr val="64748B"/>
                </a:solidFill>
                <a:latin typeface="Inter"/>
              </a:rPr>
              <a:t>Complete visual redesign and UX architecture overhaul for login, dashboard, and administrative management.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3050" y="2322760"/>
            <a:ext cx="457200" cy="45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0" y="2384673"/>
            <a:ext cx="895350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2100" i="0" u="none">
                <a:solidFill>
                  <a:srgbClr val="0F172A"/>
                </a:solidFill>
                <a:latin typeface="Plus Jakarta Sans ExtraBold"/>
              </a:rPr>
              <a:t>Job</a:t>
            </a:r>
            <a:r>
              <a:rPr b="0" sz="2100" i="0" u="none">
                <a:solidFill>
                  <a:srgbClr val="4F46E5"/>
                </a:solidFill>
                <a:latin typeface="Plus Jakarta Sans ExtraBold"/>
              </a:rPr>
              <a:t>Bot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43362" y="4754314"/>
            <a:ext cx="152400" cy="152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310062" y="4735264"/>
            <a:ext cx="38385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334155"/>
                </a:solidFill>
                <a:latin typeface="Inter SemiBold"/>
              </a:rPr>
              <a:t>"Smarter resumes. Faster applications. Zero hassle."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1637" y="2437060"/>
            <a:ext cx="200025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56007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The JobBot Vision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1095375"/>
            <a:ext cx="5334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0"/>
            <a:ext cx="59055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2688133"/>
            <a:ext cx="5600700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Plus Jakarta Sans"/>
              </a:rPr>
              <a:t>Transforming the Job Search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3173908"/>
            <a:ext cx="5334000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Job seekers spend hours adjusting resumes, hunting down postings, and repeating identical application forms across dozens of employer portals.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3813869"/>
            <a:ext cx="5334000" cy="9751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JobBot revolutionizes this process by creating a centralized, automated powerhouse. You upload your resume once, and JobBot extracts skills, matches high-affinity opportunities, and optimizes cover letters automatically.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31268"/>
            <a:ext cx="3530649" cy="256698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749" y="2531268"/>
            <a:ext cx="3530649" cy="256698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999" y="2531268"/>
            <a:ext cx="3530649" cy="256698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725" y="2807493"/>
            <a:ext cx="457200" cy="45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7725" y="3417093"/>
            <a:ext cx="1580197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1. Ingest &amp; Parse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3750468"/>
            <a:ext cx="2978199" cy="10715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64748B"/>
                </a:solidFill>
                <a:latin typeface="Inter"/>
              </a:rPr>
              <a:t>Upload your resume in PDF or Word. Intelligent text extraction securely categorizes career history, technical proficiencies, and contact details without external leaks.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06974" y="2807493"/>
            <a:ext cx="457200" cy="457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06974" y="3417093"/>
            <a:ext cx="1980247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2. ATS Score &amp; Tailor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6974" y="3750468"/>
            <a:ext cx="2978199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64748B"/>
                </a:solidFill>
                <a:latin typeface="Inter"/>
              </a:rPr>
              <a:t>Postings from Adzuna and RemoteOK are scored against your profile in real-time. Customized cover letters and keyword alignments are generated in milliseconds.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66224" y="2807493"/>
            <a:ext cx="457200" cy="457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66224" y="3417093"/>
            <a:ext cx="2040255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3. Zero-Hassle Apply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224" y="3750468"/>
            <a:ext cx="2978199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64748B"/>
                </a:solidFill>
                <a:latin typeface="Inter"/>
              </a:rPr>
              <a:t>Leveraging securely encrypted Gmail tokens, candidates can dispatch verified, tailored applications with one click and track statuses live on the console.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0600" y="2921793"/>
            <a:ext cx="171450" cy="2286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21274" y="2921793"/>
            <a:ext cx="228600" cy="2286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80524" y="2921793"/>
            <a:ext cx="228600" cy="2286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The End-to-End Workflow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1500" y="1000125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109787"/>
            <a:ext cx="5334000" cy="34099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109787"/>
            <a:ext cx="5334000" cy="34099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85825" y="3033712"/>
            <a:ext cx="4940617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4F46E5"/>
                </a:solidFill>
                <a:latin typeface="Plus Jakarta Sans"/>
              </a:rPr>
              <a:t>Visual Semantics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5825" y="3414712"/>
            <a:ext cx="4705350" cy="971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475569"/>
                </a:solidFill>
                <a:latin typeface="Inter"/>
              </a:rPr>
              <a:t>The lightning bolt emblem represents automated velocity, while the geometric frame symbolizes structured precision. The typography combines modern rounded geometry with high-contrast legibility for software professionals.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825" y="2424112"/>
            <a:ext cx="4940617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4F46E5"/>
                </a:solidFill>
                <a:latin typeface="Plus Jakarta Sans"/>
              </a:rPr>
              <a:t>Vibrant Yet Subtle Palette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0825" y="2805112"/>
            <a:ext cx="47053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475569"/>
                </a:solidFill>
                <a:latin typeface="Inter"/>
              </a:rPr>
              <a:t>Electric Indigo (#4f46e5):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 Dominant primary hue signifying intelligence and focus.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825" y="3405187"/>
            <a:ext cx="47053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475569"/>
                </a:solidFill>
                <a:latin typeface="Inter"/>
              </a:rPr>
              <a:t>Cyan Blue (#0ea5e9):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 Dynamic accent communicating velocity and automation.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0825" y="4005262"/>
            <a:ext cx="47053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475569"/>
                </a:solidFill>
                <a:latin typeface="Inter"/>
              </a:rPr>
              <a:t>Emerald Green (#10b981):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 Status confirmation for high ATS matches and sent applications.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0825" y="4605337"/>
            <a:ext cx="47053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475569"/>
                </a:solidFill>
                <a:latin typeface="Inter"/>
              </a:rPr>
              <a:t>Slate Gray (#0f172a):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 Minimalist canvas keeping content scannable and distraction-free.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825" y="2424112"/>
            <a:ext cx="457200" cy="457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476375" y="2486025"/>
            <a:ext cx="895350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100" i="0" u="none">
                <a:solidFill>
                  <a:srgbClr val="0F172A"/>
                </a:solidFill>
                <a:latin typeface="Plus Jakarta Sans ExtraBold"/>
              </a:rPr>
              <a:t>Job</a:t>
            </a:r>
            <a:r>
              <a:rPr b="0" sz="2100" i="0" u="none">
                <a:solidFill>
                  <a:srgbClr val="4F46E5"/>
                </a:solidFill>
                <a:latin typeface="Plus Jakarta Sans ExtraBold"/>
              </a:rPr>
              <a:t>Bot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412" y="2538412"/>
            <a:ext cx="200025" cy="2286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Brand Identity &amp; Logo System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" y="1000125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7762" y="2200275"/>
            <a:ext cx="2276475" cy="30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50581" y="3190875"/>
            <a:ext cx="6690836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3900" i="0" u="none">
                <a:solidFill>
                  <a:srgbClr val="0F172A"/>
                </a:solidFill>
                <a:latin typeface="Plus Jakarta Sans ExtraBold"/>
              </a:rPr>
              <a:t>User Interface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71750" y="3971925"/>
            <a:ext cx="70485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475569"/>
                </a:solidFill>
                <a:latin typeface="Inter"/>
              </a:rPr>
              <a:t>A unified design system transitioning JobBot from basic web prototypes to an enterprise-grade, minimalist candidate portal.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9687" y="2286000"/>
            <a:ext cx="157162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147887"/>
            <a:ext cx="5334000" cy="3333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57250" y="2840831"/>
            <a:ext cx="952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" y="2843212"/>
            <a:ext cx="4953000" cy="485775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475569"/>
                </a:solidFill>
                <a:latin typeface="Inter"/>
              </a:rPr>
              <a:t>Elevated Brand Header: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 Centered JobBot logo with glowing badge and clear value proposition.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250" y="3326606"/>
            <a:ext cx="952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2500" y="3328987"/>
            <a:ext cx="4953000" cy="485775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475569"/>
                </a:solidFill>
                <a:latin typeface="Inter"/>
              </a:rPr>
              <a:t>Focused Input Cards: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 Clean floating cards with subtle border focus states, removing clutter.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50" y="3812381"/>
            <a:ext cx="952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500" y="3814762"/>
            <a:ext cx="4953000" cy="485775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475569"/>
                </a:solidFill>
                <a:latin typeface="Inter"/>
              </a:rPr>
              <a:t>Admin Account Promotion: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 Automatic administrative privilege detection based on registered email.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250" y="4298156"/>
            <a:ext cx="952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500" y="4300537"/>
            <a:ext cx="4953000" cy="485775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475569"/>
                </a:solidFill>
                <a:latin typeface="Inter"/>
              </a:rPr>
              <a:t>Integrated Security Badging: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 Explicit indicators demonstrating encrypted password hashing and CSRF session security.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147887"/>
            <a:ext cx="5334000" cy="33337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Redesigned Login &amp; Auth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1000125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524000" y="1985962"/>
            <a:ext cx="9144000" cy="781050"/>
          </a:xfrm>
          <a:prstGeom prst="roundRect">
            <a:avLst>
              <a:gd name="adj" fmla="val 1463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38350" y="2138362"/>
            <a:ext cx="84391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F172A"/>
                </a:solidFill>
                <a:latin typeface="Inter"/>
              </a:rPr>
              <a:t>Persistent Header Navigation: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Displays the JobBot logo, logged-in email badge, admin access portal, and quick logout control across every page.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24000" y="2900362"/>
            <a:ext cx="9144000" cy="781050"/>
          </a:xfrm>
          <a:prstGeom prst="roundRect">
            <a:avLst>
              <a:gd name="adj" fmla="val 1463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38350" y="3052762"/>
            <a:ext cx="84391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F172A"/>
                </a:solidFill>
                <a:latin typeface="Inter"/>
              </a:rPr>
              <a:t>Centralized Job Pool Hub: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Shows scored vacancies from the shared database pool with instant match badges (e.g. 95% Match) and skill overlays.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24000" y="3814762"/>
            <a:ext cx="9144000" cy="781050"/>
          </a:xfrm>
          <a:prstGeom prst="roundRect">
            <a:avLst>
              <a:gd name="adj" fmla="val 1463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38350" y="3967162"/>
            <a:ext cx="84391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F172A"/>
                </a:solidFill>
                <a:latin typeface="Inter"/>
              </a:rPr>
              <a:t>Dynamic Resume Tailor Panel: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Automatically crafts bespoke cover letters using your uploaded candidate background without external friction.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24000" y="4729162"/>
            <a:ext cx="9144000" cy="781050"/>
          </a:xfrm>
          <a:prstGeom prst="roundRect">
            <a:avLst>
              <a:gd name="adj" fmla="val 1463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38350" y="4881562"/>
            <a:ext cx="84391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F172A"/>
                </a:solidFill>
                <a:latin typeface="Inter"/>
              </a:rPr>
              <a:t>Encrypted Credentials Vault: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Stores Gmail app passwords using server-side Fernet encryption, never exposing plaintext secrets.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24000" y="2757487"/>
            <a:ext cx="9144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524000" y="3671887"/>
            <a:ext cx="9144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524000" y="4586287"/>
            <a:ext cx="9144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524000" y="5500687"/>
            <a:ext cx="9144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4025" y="2162175"/>
            <a:ext cx="190500" cy="2000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4025" y="3076575"/>
            <a:ext cx="190500" cy="2000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24025" y="3990975"/>
            <a:ext cx="219075" cy="2000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24025" y="4905375"/>
            <a:ext cx="190500" cy="20002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Dashboard Experience Overhaul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1500" y="1000125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024187"/>
            <a:ext cx="5334000" cy="1238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4357687"/>
            <a:ext cx="53340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0F172A"/>
                </a:solidFill>
                <a:latin typeface="Inter"/>
              </a:rPr>
              <a:t>Faster Application Turnaround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86500" y="2859881"/>
            <a:ext cx="5600700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Plus Jakarta Sans"/>
              </a:rPr>
              <a:t>Eliminating Application Fatigue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86500" y="3326606"/>
            <a:ext cx="53340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475569"/>
                </a:solidFill>
                <a:latin typeface="Inter"/>
              </a:rPr>
              <a:t>Traditional candidate workflows consume 35 to 45 minutes per targeted role, leading to high drop-off rates and keyword mismatch.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86500" y="3926681"/>
            <a:ext cx="5334000" cy="728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475569"/>
                </a:solidFill>
                <a:latin typeface="Inter"/>
              </a:rPr>
              <a:t>With JobBot's pre-scored pool and one-click tailor engine, tailored submissions take under 4 minutes. Job seekers submit higher quality applications with zero administrative hassle.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Measurable Impact &amp; Speed</a:t>
            </a:r>
          </a:p>
        </p:txBody>
      </p:sp>
      <p:sp>
        <p:nvSpPr>
          <p:cNvPr id="9" name="Rectangle 8"/>
          <p:cNvSpPr/>
          <p:nvPr/>
        </p:nvSpPr>
        <p:spPr>
          <a:xfrm>
            <a:off x="571500" y="1000125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247775"/>
            <a:ext cx="11049000" cy="51339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4619625"/>
            <a:ext cx="110490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12"/>
              </a:lnSpc>
            </a:pPr>
            <a:r>
              <a:rPr b="0" sz="1275" i="1" u="none">
                <a:solidFill>
                  <a:srgbClr val="475569"/>
                </a:solidFill>
                <a:latin typeface="Inter"/>
              </a:rPr>
              <a:t>JobBot's automated keyword injection and ATS scoring module elevates applicant profile ranking above the top 90th percentile across standard automated screening filters.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ATS Match Score Comparison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1000125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71500" y="2586037"/>
          <a:ext cx="11048998" cy="24574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559421"/>
                <a:gridCol w="2436018"/>
                <a:gridCol w="3231058"/>
                <a:gridCol w="3822501"/>
              </a:tblGrid>
              <a:tr h="491490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Page / Module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Legacy Template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JobBot Redesign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User Experience Benefit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475569"/>
                          </a:solidFill>
                          <a:latin typeface="Inter"/>
                        </a:rPr>
                        <a:t>Header / Brand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Inter"/>
                        </a:rPr>
                        <a:t>Raw plain text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Inter"/>
                        </a:rPr>
                        <a:t>Global logo &amp; navigation header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Inter"/>
                        </a:rPr>
                        <a:t>Instant recognition &amp; consistent orientation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475569"/>
                          </a:solidFill>
                          <a:latin typeface="Inter"/>
                        </a:rPr>
                        <a:t>Login / Register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Inter"/>
                        </a:rPr>
                        <a:t>Basic unstyled HTML inputs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Inter"/>
                        </a:rPr>
                        <a:t>Minimalist cards with subtle glow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Inter"/>
                        </a:rPr>
                        <a:t>Modern onboarding with zero cognitive load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475569"/>
                          </a:solidFill>
                          <a:latin typeface="Inter"/>
                        </a:rPr>
                        <a:t>Dashboard UI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Inter"/>
                        </a:rPr>
                        <a:t>Linear text tables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Inter"/>
                        </a:rPr>
                        <a:t>Tiled job cards &amp; match score badges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Inter"/>
                        </a:rPr>
                        <a:t>Scannable decision-making and 1-click actions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475569"/>
                          </a:solidFill>
                          <a:latin typeface="Inter"/>
                        </a:rPr>
                        <a:t>Admin Panel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Inter"/>
                        </a:rPr>
                        <a:t>Unformatted logs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Inter"/>
                        </a:rPr>
                        <a:t>Visual telemetry &amp; pool refresh actions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Inter"/>
                        </a:rPr>
                        <a:t>Effortless monitoring of active candidates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571500" y="3076575"/>
            <a:ext cx="155942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30921" y="3076575"/>
            <a:ext cx="243601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66939" y="3076575"/>
            <a:ext cx="32310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97998" y="3076575"/>
            <a:ext cx="382250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3567112"/>
            <a:ext cx="155942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130921" y="3567112"/>
            <a:ext cx="243601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66939" y="3567112"/>
            <a:ext cx="32310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97998" y="3567112"/>
            <a:ext cx="382250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1500" y="4057650"/>
            <a:ext cx="155942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30921" y="4057650"/>
            <a:ext cx="243601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66939" y="4057650"/>
            <a:ext cx="32310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97998" y="4057650"/>
            <a:ext cx="382250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71500" y="4548187"/>
            <a:ext cx="155942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130921" y="4548187"/>
            <a:ext cx="243601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66939" y="4548187"/>
            <a:ext cx="32310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97998" y="4548187"/>
            <a:ext cx="382250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Template Architecture Upgrade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1500" y="1000125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795712"/>
            <a:ext cx="11049000" cy="381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043362"/>
            <a:ext cx="2430660" cy="111025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4180" y="2475904"/>
            <a:ext cx="2430660" cy="111025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6860" y="4043362"/>
            <a:ext cx="2430660" cy="1110257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89541" y="2475904"/>
            <a:ext cx="2430660" cy="111025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0754" y="4205287"/>
            <a:ext cx="2212151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75" i="0" u="none">
                <a:solidFill>
                  <a:srgbClr val="4F46E5"/>
                </a:solidFill>
                <a:latin typeface="Plus Jakarta Sans"/>
              </a:rPr>
              <a:t>Step 1: Auth &amp; Brand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3425" y="4471987"/>
            <a:ext cx="2106810" cy="5197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b="0" sz="975" i="0" u="none">
                <a:solidFill>
                  <a:srgbClr val="64748B"/>
                </a:solidFill>
                <a:latin typeface="Inter"/>
              </a:rPr>
              <a:t>Integrate JobBot logo header and minimalist cards into login.html and signup.html.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53435" y="2637829"/>
            <a:ext cx="2212151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75" i="0" u="none">
                <a:solidFill>
                  <a:srgbClr val="4F46E5"/>
                </a:solidFill>
                <a:latin typeface="Plus Jakarta Sans"/>
              </a:rPr>
              <a:t>Step 2: Dashboard 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6105" y="2904529"/>
            <a:ext cx="2106810" cy="5197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b="0" sz="975" i="0" u="none">
                <a:solidFill>
                  <a:srgbClr val="64748B"/>
                </a:solidFill>
                <a:latin typeface="Inter"/>
              </a:rPr>
              <a:t>Upgrade dashboard.html with match cards, ATS scores, and cover letter generator.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6115" y="4205287"/>
            <a:ext cx="2212151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75" i="0" u="none">
                <a:solidFill>
                  <a:srgbClr val="4F46E5"/>
                </a:solidFill>
                <a:latin typeface="Plus Jakarta Sans"/>
              </a:rPr>
              <a:t>Step 3: Admin Console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8785" y="4471987"/>
            <a:ext cx="2106810" cy="5197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b="0" sz="975" i="0" u="none">
                <a:solidFill>
                  <a:srgbClr val="64748B"/>
                </a:solidFill>
                <a:latin typeface="Inter"/>
              </a:rPr>
              <a:t>Enhance admin.html with real-time status counters and pool refresh triggers.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98796" y="2637829"/>
            <a:ext cx="2212151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75" i="0" u="none">
                <a:solidFill>
                  <a:srgbClr val="4F46E5"/>
                </a:solidFill>
                <a:latin typeface="Plus Jakarta Sans"/>
              </a:rPr>
              <a:t>Step 4: Render Deploy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51466" y="2904529"/>
            <a:ext cx="2106810" cy="5197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b="0" sz="975" i="0" u="none">
                <a:solidFill>
                  <a:srgbClr val="64748B"/>
                </a:solidFill>
                <a:latin typeface="Inter"/>
              </a:rPr>
              <a:t>Push updates to GitHub repository; Render triggers zero-downtime deployment.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Production Rollout Roadmap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" y="1000125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691580" y="371951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64260" y="371951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436941" y="371951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309621" y="371951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0450" y="3009900"/>
            <a:ext cx="4991100" cy="4476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5275" y="1238250"/>
            <a:ext cx="116014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4800" i="0" u="none">
                <a:solidFill>
                  <a:srgbClr val="0F172A"/>
                </a:solidFill>
                <a:latin typeface="Plus Jakarta Sans ExtraBold"/>
              </a:rPr>
              <a:t>Ready for Launch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38500" y="2152650"/>
            <a:ext cx="5715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64748B"/>
                </a:solidFill>
                <a:latin typeface="Inter"/>
              </a:rPr>
              <a:t>Deploy the updated templates and elevate your candidates' job search experience on Render.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6362" y="476250"/>
            <a:ext cx="533400" cy="533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53112" y="528637"/>
            <a:ext cx="1152525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2700" i="0" u="none">
                <a:solidFill>
                  <a:srgbClr val="0F172A"/>
                </a:solidFill>
                <a:latin typeface="Plus Jakarta Sans ExtraBold"/>
              </a:rPr>
              <a:t>Job</a:t>
            </a:r>
            <a:r>
              <a:rPr b="0" sz="2700" i="0" u="none">
                <a:solidFill>
                  <a:srgbClr val="4F46E5"/>
                </a:solidFill>
                <a:latin typeface="Plus Jakarta Sans ExtraBold"/>
              </a:rPr>
              <a:t>Bot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0" y="609600"/>
            <a:ext cx="238125" cy="2667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2962275"/>
            <a:ext cx="11049000" cy="9429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38957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38957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190875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66875" y="3105150"/>
            <a:ext cx="9953625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https://media.istockphoto.com/id/2208002582/photo/concentrated-latin-business-woman-saleswoman-working-on-laptop-computer-reading-financial.jpg?s=612x612&amp;w=0&amp;k=20&amp;c=2t0MjdLhyS5FFL87QJypaGgVakQ5pQM2htViQ-Sgz9w=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6875" y="3524250"/>
            <a:ext cx="99536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www.istockphoto.com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048125"/>
            <a:ext cx="857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66875" y="4055268"/>
            <a:ext cx="995362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https://miro.medium.com/v2/resize:fit:2000/1*-867UFIo3H3-rjsJCmQy3g.png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6875" y="4288631"/>
            <a:ext cx="99536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medium.com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Image Sources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1000125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